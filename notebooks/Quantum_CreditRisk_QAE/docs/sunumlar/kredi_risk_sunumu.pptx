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42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HMET ÇELİK" userId="863058f845ff4503" providerId="LiveId" clId="{DDFCB46C-98C3-48ED-B6D6-71F6DEC1F5FC}"/>
    <pc:docChg chg="undo custSel modSld">
      <pc:chgData name="MEHMET ÇELİK" userId="863058f845ff4503" providerId="LiveId" clId="{DDFCB46C-98C3-48ED-B6D6-71F6DEC1F5FC}" dt="2026-07-12T15:02:08.439" v="103" actId="1076"/>
      <pc:docMkLst>
        <pc:docMk/>
      </pc:docMkLst>
      <pc:sldChg chg="addSp modSp mod">
        <pc:chgData name="MEHMET ÇELİK" userId="863058f845ff4503" providerId="LiveId" clId="{DDFCB46C-98C3-48ED-B6D6-71F6DEC1F5FC}" dt="2026-07-12T14:57:44.868" v="29" actId="1076"/>
        <pc:sldMkLst>
          <pc:docMk/>
          <pc:sldMk cId="0" sldId="256"/>
        </pc:sldMkLst>
        <pc:spChg chg="mod">
          <ac:chgData name="MEHMET ÇELİK" userId="863058f845ff4503" providerId="LiveId" clId="{DDFCB46C-98C3-48ED-B6D6-71F6DEC1F5FC}" dt="2026-07-12T14:57:22.869" v="24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MEHMET ÇELİK" userId="863058f845ff4503" providerId="LiveId" clId="{DDFCB46C-98C3-48ED-B6D6-71F6DEC1F5FC}" dt="2026-07-12T14:57:32.888" v="28" actId="14100"/>
          <ac:spMkLst>
            <pc:docMk/>
            <pc:sldMk cId="0" sldId="256"/>
            <ac:spMk id="3" creationId="{00000000-0000-0000-0000-000000000000}"/>
          </ac:spMkLst>
        </pc:spChg>
        <pc:picChg chg="add mod">
          <ac:chgData name="MEHMET ÇELİK" userId="863058f845ff4503" providerId="LiveId" clId="{DDFCB46C-98C3-48ED-B6D6-71F6DEC1F5FC}" dt="2026-07-12T14:57:44.868" v="29" actId="1076"/>
          <ac:picMkLst>
            <pc:docMk/>
            <pc:sldMk cId="0" sldId="256"/>
            <ac:picMk id="1026" creationId="{C9F70DDB-6756-87E0-FCEA-F1E9E91549D7}"/>
          </ac:picMkLst>
        </pc:picChg>
      </pc:sldChg>
      <pc:sldChg chg="modSp mod">
        <pc:chgData name="MEHMET ÇELİK" userId="863058f845ff4503" providerId="LiveId" clId="{DDFCB46C-98C3-48ED-B6D6-71F6DEC1F5FC}" dt="2026-07-12T15:00:10.752" v="69" actId="1076"/>
        <pc:sldMkLst>
          <pc:docMk/>
          <pc:sldMk cId="0" sldId="257"/>
        </pc:sldMkLst>
        <pc:spChg chg="mod">
          <ac:chgData name="MEHMET ÇELİK" userId="863058f845ff4503" providerId="LiveId" clId="{DDFCB46C-98C3-48ED-B6D6-71F6DEC1F5FC}" dt="2026-07-12T14:59:50.739" v="66" actId="1076"/>
          <ac:spMkLst>
            <pc:docMk/>
            <pc:sldMk cId="0" sldId="257"/>
            <ac:spMk id="2" creationId="{00000000-0000-0000-0000-000000000000}"/>
          </ac:spMkLst>
        </pc:spChg>
        <pc:spChg chg="mod">
          <ac:chgData name="MEHMET ÇELİK" userId="863058f845ff4503" providerId="LiveId" clId="{DDFCB46C-98C3-48ED-B6D6-71F6DEC1F5FC}" dt="2026-07-12T15:00:10.752" v="69" actId="1076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MEHMET ÇELİK" userId="863058f845ff4503" providerId="LiveId" clId="{DDFCB46C-98C3-48ED-B6D6-71F6DEC1F5FC}" dt="2026-07-12T15:00:06.204" v="68" actId="1076"/>
        <pc:sldMkLst>
          <pc:docMk/>
          <pc:sldMk cId="0" sldId="258"/>
        </pc:sldMkLst>
        <pc:spChg chg="mod">
          <ac:chgData name="MEHMET ÇELİK" userId="863058f845ff4503" providerId="LiveId" clId="{DDFCB46C-98C3-48ED-B6D6-71F6DEC1F5FC}" dt="2026-07-12T15:00:06.204" v="68" actId="1076"/>
          <ac:spMkLst>
            <pc:docMk/>
            <pc:sldMk cId="0" sldId="258"/>
            <ac:spMk id="2" creationId="{00000000-0000-0000-0000-000000000000}"/>
          </ac:spMkLst>
        </pc:spChg>
        <pc:spChg chg="mod">
          <ac:chgData name="MEHMET ÇELİK" userId="863058f845ff4503" providerId="LiveId" clId="{DDFCB46C-98C3-48ED-B6D6-71F6DEC1F5FC}" dt="2026-07-12T14:59:58.224" v="67" actId="1076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MEHMET ÇELİK" userId="863058f845ff4503" providerId="LiveId" clId="{DDFCB46C-98C3-48ED-B6D6-71F6DEC1F5FC}" dt="2026-07-12T15:01:36.525" v="90" actId="122"/>
        <pc:sldMkLst>
          <pc:docMk/>
          <pc:sldMk cId="0" sldId="259"/>
        </pc:sldMkLst>
        <pc:spChg chg="mod">
          <ac:chgData name="MEHMET ÇELİK" userId="863058f845ff4503" providerId="LiveId" clId="{DDFCB46C-98C3-48ED-B6D6-71F6DEC1F5FC}" dt="2026-07-12T15:01:36.525" v="90" actId="122"/>
          <ac:spMkLst>
            <pc:docMk/>
            <pc:sldMk cId="0" sldId="259"/>
            <ac:spMk id="2" creationId="{00000000-0000-0000-0000-000000000000}"/>
          </ac:spMkLst>
        </pc:spChg>
        <pc:picChg chg="mod">
          <ac:chgData name="MEHMET ÇELİK" userId="863058f845ff4503" providerId="LiveId" clId="{DDFCB46C-98C3-48ED-B6D6-71F6DEC1F5FC}" dt="2026-07-12T15:00:17.369" v="70" actId="1076"/>
          <ac:picMkLst>
            <pc:docMk/>
            <pc:sldMk cId="0" sldId="259"/>
            <ac:picMk id="3" creationId="{00000000-0000-0000-0000-000000000000}"/>
          </ac:picMkLst>
        </pc:picChg>
      </pc:sldChg>
      <pc:sldChg chg="modSp mod">
        <pc:chgData name="MEHMET ÇELİK" userId="863058f845ff4503" providerId="LiveId" clId="{DDFCB46C-98C3-48ED-B6D6-71F6DEC1F5FC}" dt="2026-07-12T15:01:56.627" v="100" actId="1076"/>
        <pc:sldMkLst>
          <pc:docMk/>
          <pc:sldMk cId="0" sldId="260"/>
        </pc:sldMkLst>
        <pc:spChg chg="mod">
          <ac:chgData name="MEHMET ÇELİK" userId="863058f845ff4503" providerId="LiveId" clId="{DDFCB46C-98C3-48ED-B6D6-71F6DEC1F5FC}" dt="2026-07-12T15:01:56.627" v="100" actId="1076"/>
          <ac:spMkLst>
            <pc:docMk/>
            <pc:sldMk cId="0" sldId="260"/>
            <ac:spMk id="2" creationId="{00000000-0000-0000-0000-000000000000}"/>
          </ac:spMkLst>
        </pc:spChg>
        <pc:picChg chg="mod">
          <ac:chgData name="MEHMET ÇELİK" userId="863058f845ff4503" providerId="LiveId" clId="{DDFCB46C-98C3-48ED-B6D6-71F6DEC1F5FC}" dt="2026-07-12T15:01:42.718" v="91" actId="1076"/>
          <ac:picMkLst>
            <pc:docMk/>
            <pc:sldMk cId="0" sldId="260"/>
            <ac:picMk id="3" creationId="{00000000-0000-0000-0000-000000000000}"/>
          </ac:picMkLst>
        </pc:picChg>
      </pc:sldChg>
      <pc:sldChg chg="modSp mod">
        <pc:chgData name="MEHMET ÇELİK" userId="863058f845ff4503" providerId="LiveId" clId="{DDFCB46C-98C3-48ED-B6D6-71F6DEC1F5FC}" dt="2026-07-12T15:02:08.439" v="103" actId="1076"/>
        <pc:sldMkLst>
          <pc:docMk/>
          <pc:sldMk cId="0" sldId="261"/>
        </pc:sldMkLst>
        <pc:spChg chg="mod">
          <ac:chgData name="MEHMET ÇELİK" userId="863058f845ff4503" providerId="LiveId" clId="{DDFCB46C-98C3-48ED-B6D6-71F6DEC1F5FC}" dt="2026-07-12T15:02:05.018" v="102" actId="1076"/>
          <ac:spMkLst>
            <pc:docMk/>
            <pc:sldMk cId="0" sldId="261"/>
            <ac:spMk id="2" creationId="{00000000-0000-0000-0000-000000000000}"/>
          </ac:spMkLst>
        </pc:spChg>
        <pc:spChg chg="mod">
          <ac:chgData name="MEHMET ÇELİK" userId="863058f845ff4503" providerId="LiveId" clId="{DDFCB46C-98C3-48ED-B6D6-71F6DEC1F5FC}" dt="2026-07-12T15:02:08.439" v="103" actId="1076"/>
          <ac:spMkLst>
            <pc:docMk/>
            <pc:sldMk cId="0" sldId="261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803405"/>
            <a:ext cx="73152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632201"/>
            <a:ext cx="73152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32170" y="4323845"/>
            <a:ext cx="2297429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14400" y="4323846"/>
            <a:ext cx="488061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7900" y="1430867"/>
            <a:ext cx="21717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236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5926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4"/>
            <a:ext cx="7955280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3641726"/>
            <a:ext cx="7955281" cy="1354134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4704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4360" y="2194560"/>
            <a:ext cx="3910579" cy="4069080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2099" y="2194560"/>
            <a:ext cx="3907540" cy="4069080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1554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762000"/>
            <a:ext cx="6377940" cy="1295400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279" y="2183802"/>
            <a:ext cx="3683659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4359" y="3132667"/>
            <a:ext cx="3910579" cy="3130973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9018" y="2183802"/>
            <a:ext cx="368062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2098" y="3132667"/>
            <a:ext cx="3907541" cy="3130973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624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875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2871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30861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746760"/>
            <a:ext cx="4663440" cy="5516880"/>
          </a:xfrm>
        </p:spPr>
        <p:txBody>
          <a:bodyPr anchor="ctr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308610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781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407573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77524" y="751242"/>
            <a:ext cx="3674234" cy="5512398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407573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726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Yazılı Panoramik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55" y="4697361"/>
            <a:ext cx="7956482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4355" y="977035"/>
            <a:ext cx="7950260" cy="3406972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5516716"/>
            <a:ext cx="7955280" cy="746924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534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aşlık ve Resim Yazıs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3"/>
            <a:ext cx="795528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649134"/>
            <a:ext cx="7772400" cy="1330852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3403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Resim Yazılı Alın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1" y="753534"/>
            <a:ext cx="7613650" cy="2756234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77899" y="3509768"/>
            <a:ext cx="7194552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174597"/>
            <a:ext cx="7778752" cy="821265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9438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31458" y="80772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46733" y="302133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531154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İsim Kar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124702"/>
            <a:ext cx="7774782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92" y="3648316"/>
            <a:ext cx="7773608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78884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8884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2936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ütu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171701" y="762000"/>
            <a:ext cx="6377939" cy="1303867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94361" y="2202080"/>
            <a:ext cx="2560320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9436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02237" y="2201333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00781" y="2904068"/>
            <a:ext cx="2560320" cy="335957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9319" y="2192866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932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2752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Resim Sütu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171702" y="762000"/>
            <a:ext cx="6381984" cy="1295400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94360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94360" y="2331720"/>
            <a:ext cx="2560320" cy="15073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94360" y="4796103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91873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291872" y="2331720"/>
            <a:ext cx="2560320" cy="1509862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290858" y="4796102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93365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93364" y="2331721"/>
            <a:ext cx="2560320" cy="1508919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93272" y="4796100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1839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2194560"/>
            <a:ext cx="7955280" cy="4069080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5735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6590" y="747183"/>
            <a:ext cx="1543050" cy="424867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746126"/>
            <a:ext cx="6278035" cy="4249732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587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8108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37794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2194560"/>
            <a:ext cx="7955280" cy="4069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12230" y="6356351"/>
            <a:ext cx="21374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4360" y="6355846"/>
            <a:ext cx="56807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72250" y="381001"/>
            <a:ext cx="19773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9644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oshiba, Standart Donanım İle Kuantum Bilgisayarlara Meydan Okuyor -  Technopat">
            <a:extLst>
              <a:ext uri="{FF2B5EF4-FFF2-40B4-BE49-F238E27FC236}">
                <a16:creationId xmlns:a16="http://schemas.microsoft.com/office/drawing/2014/main" id="{C9F70DDB-6756-87E0-FCEA-F1E9E91549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6912" y="2681968"/>
            <a:ext cx="3667088" cy="2120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8328" y="758952"/>
            <a:ext cx="7315200" cy="3452913"/>
          </a:xfrm>
        </p:spPr>
        <p:txBody>
          <a:bodyPr>
            <a:normAutofit/>
          </a:bodyPr>
          <a:lstStyle/>
          <a:p>
            <a:r>
              <a:rPr dirty="0"/>
              <a:t> </a:t>
            </a:r>
            <a:r>
              <a:rPr dirty="0" err="1"/>
              <a:t>Kuantum</a:t>
            </a:r>
            <a:r>
              <a:rPr dirty="0"/>
              <a:t> </a:t>
            </a:r>
            <a:r>
              <a:rPr dirty="0" err="1"/>
              <a:t>Genlik</a:t>
            </a:r>
            <a:r>
              <a:rPr dirty="0"/>
              <a:t> </a:t>
            </a:r>
            <a:r>
              <a:rPr dirty="0" err="1"/>
              <a:t>Tahmini</a:t>
            </a:r>
            <a:r>
              <a:rPr dirty="0"/>
              <a:t> (QAE)</a:t>
            </a:r>
          </a:p>
          <a:p>
            <a:r>
              <a:rPr dirty="0" err="1"/>
              <a:t>ile</a:t>
            </a:r>
            <a:r>
              <a:rPr dirty="0"/>
              <a:t> </a:t>
            </a:r>
            <a:r>
              <a:rPr dirty="0" err="1"/>
              <a:t>Kredi</a:t>
            </a:r>
            <a:r>
              <a:rPr dirty="0"/>
              <a:t> Risk </a:t>
            </a:r>
            <a:r>
              <a:rPr dirty="0" err="1"/>
              <a:t>Değerlemesi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4459733"/>
            <a:ext cx="7315200" cy="685800"/>
          </a:xfrm>
        </p:spPr>
        <p:txBody>
          <a:bodyPr>
            <a:normAutofit fontScale="70000" lnSpcReduction="20000"/>
          </a:bodyPr>
          <a:lstStyle/>
          <a:p>
            <a:r>
              <a:rPr dirty="0" err="1"/>
              <a:t>Geliştirici</a:t>
            </a:r>
            <a:r>
              <a:rPr dirty="0"/>
              <a:t>: Mehmet </a:t>
            </a:r>
            <a:r>
              <a:rPr dirty="0" err="1"/>
              <a:t>Çelik</a:t>
            </a:r>
            <a:endParaRPr dirty="0"/>
          </a:p>
          <a:p>
            <a:r>
              <a:rPr sz="3600" b="1" dirty="0" err="1"/>
              <a:t>Kuantum</a:t>
            </a:r>
            <a:r>
              <a:rPr sz="3600" b="1" dirty="0"/>
              <a:t> </a:t>
            </a:r>
            <a:r>
              <a:rPr sz="3600" b="1" dirty="0" err="1"/>
              <a:t>Algoritmaları</a:t>
            </a:r>
            <a:r>
              <a:rPr sz="3600" b="1" dirty="0"/>
              <a:t> </a:t>
            </a:r>
            <a:r>
              <a:rPr sz="3600" b="1" dirty="0" err="1"/>
              <a:t>Projesi</a:t>
            </a:r>
            <a:endParaRPr sz="36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800949"/>
            <a:ext cx="6377940" cy="1293028"/>
          </a:xfrm>
        </p:spPr>
        <p:txBody>
          <a:bodyPr/>
          <a:lstStyle/>
          <a:p>
            <a:r>
              <a:rPr dirty="0"/>
              <a:t>Problem </a:t>
            </a:r>
            <a:r>
              <a:rPr dirty="0" err="1"/>
              <a:t>Tanımı</a:t>
            </a:r>
            <a:r>
              <a:rPr dirty="0"/>
              <a:t>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Klasik</a:t>
            </a:r>
            <a:r>
              <a:rPr dirty="0"/>
              <a:t> </a:t>
            </a:r>
            <a:r>
              <a:rPr dirty="0" err="1"/>
              <a:t>Sınırlar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2788920"/>
            <a:ext cx="7955280" cy="4069080"/>
          </a:xfrm>
        </p:spPr>
        <p:txBody>
          <a:bodyPr/>
          <a:lstStyle/>
          <a:p>
            <a:r>
              <a:rPr dirty="0" err="1"/>
              <a:t>Geleneksel</a:t>
            </a:r>
            <a:r>
              <a:rPr dirty="0"/>
              <a:t> Monte Carlo </a:t>
            </a:r>
            <a:r>
              <a:rPr dirty="0" err="1"/>
              <a:t>Simülasyonu</a:t>
            </a:r>
            <a:r>
              <a:rPr dirty="0"/>
              <a:t> </a:t>
            </a:r>
            <a:r>
              <a:rPr dirty="0" err="1"/>
              <a:t>Sınırları</a:t>
            </a:r>
            <a:r>
              <a:rPr dirty="0"/>
              <a:t>:</a:t>
            </a:r>
          </a:p>
          <a:p>
            <a:r>
              <a:rPr dirty="0"/>
              <a:t>• </a:t>
            </a:r>
            <a:r>
              <a:rPr dirty="0" err="1"/>
              <a:t>Kredi</a:t>
            </a:r>
            <a:r>
              <a:rPr dirty="0"/>
              <a:t> </a:t>
            </a:r>
            <a:r>
              <a:rPr dirty="0" err="1"/>
              <a:t>risklerinin</a:t>
            </a:r>
            <a:r>
              <a:rPr dirty="0"/>
              <a:t> (</a:t>
            </a:r>
            <a:r>
              <a:rPr dirty="0" err="1"/>
              <a:t>VaR</a:t>
            </a:r>
            <a:r>
              <a:rPr dirty="0"/>
              <a:t>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Beklenen</a:t>
            </a:r>
            <a:r>
              <a:rPr dirty="0"/>
              <a:t> </a:t>
            </a:r>
            <a:r>
              <a:rPr dirty="0" err="1"/>
              <a:t>Kayıp</a:t>
            </a:r>
            <a:r>
              <a:rPr dirty="0"/>
              <a:t>) </a:t>
            </a:r>
            <a:r>
              <a:rPr dirty="0" err="1"/>
              <a:t>hesaplanması</a:t>
            </a:r>
            <a:r>
              <a:rPr dirty="0"/>
              <a:t> </a:t>
            </a:r>
            <a:r>
              <a:rPr dirty="0" err="1"/>
              <a:t>yüksek</a:t>
            </a:r>
            <a:r>
              <a:rPr dirty="0"/>
              <a:t> </a:t>
            </a:r>
            <a:r>
              <a:rPr dirty="0" err="1"/>
              <a:t>işlem</a:t>
            </a:r>
            <a:r>
              <a:rPr dirty="0"/>
              <a:t> </a:t>
            </a:r>
            <a:r>
              <a:rPr dirty="0" err="1"/>
              <a:t>gücü</a:t>
            </a:r>
            <a:r>
              <a:rPr dirty="0"/>
              <a:t> </a:t>
            </a:r>
            <a:r>
              <a:rPr dirty="0" err="1"/>
              <a:t>gerektirir</a:t>
            </a:r>
            <a:r>
              <a:rPr dirty="0"/>
              <a:t>.</a:t>
            </a:r>
          </a:p>
          <a:p>
            <a:r>
              <a:rPr dirty="0"/>
              <a:t>• </a:t>
            </a:r>
            <a:r>
              <a:rPr dirty="0" err="1"/>
              <a:t>Klasik</a:t>
            </a:r>
            <a:r>
              <a:rPr dirty="0"/>
              <a:t> Monte Carlo </a:t>
            </a:r>
            <a:r>
              <a:rPr dirty="0" err="1"/>
              <a:t>simülasyonunda</a:t>
            </a:r>
            <a:r>
              <a:rPr dirty="0"/>
              <a:t> </a:t>
            </a:r>
            <a:r>
              <a:rPr dirty="0" err="1"/>
              <a:t>hata</a:t>
            </a:r>
            <a:r>
              <a:rPr dirty="0"/>
              <a:t> </a:t>
            </a:r>
            <a:r>
              <a:rPr dirty="0" err="1"/>
              <a:t>payının</a:t>
            </a:r>
            <a:r>
              <a:rPr dirty="0"/>
              <a:t> ε </a:t>
            </a:r>
            <a:r>
              <a:rPr dirty="0" err="1"/>
              <a:t>olması</a:t>
            </a:r>
            <a:r>
              <a:rPr dirty="0"/>
              <a:t> </a:t>
            </a:r>
            <a:r>
              <a:rPr dirty="0" err="1"/>
              <a:t>için</a:t>
            </a:r>
            <a:r>
              <a:rPr dirty="0"/>
              <a:t> O(1/ε²) </a:t>
            </a:r>
            <a:r>
              <a:rPr dirty="0" err="1"/>
              <a:t>örneklem</a:t>
            </a:r>
            <a:r>
              <a:rPr dirty="0"/>
              <a:t> </a:t>
            </a:r>
            <a:r>
              <a:rPr dirty="0" err="1"/>
              <a:t>gerekir</a:t>
            </a:r>
            <a:r>
              <a:rPr dirty="0"/>
              <a:t>.</a:t>
            </a:r>
          </a:p>
          <a:p>
            <a:r>
              <a:rPr dirty="0"/>
              <a:t>• </a:t>
            </a:r>
            <a:r>
              <a:rPr dirty="0" err="1"/>
              <a:t>Müşterilerin</a:t>
            </a:r>
            <a:r>
              <a:rPr dirty="0"/>
              <a:t> </a:t>
            </a:r>
            <a:r>
              <a:rPr dirty="0" err="1"/>
              <a:t>temerrüt</a:t>
            </a:r>
            <a:r>
              <a:rPr dirty="0"/>
              <a:t> </a:t>
            </a:r>
            <a:r>
              <a:rPr dirty="0" err="1"/>
              <a:t>olasılıklarını</a:t>
            </a:r>
            <a:r>
              <a:rPr dirty="0"/>
              <a:t> </a:t>
            </a:r>
            <a:r>
              <a:rPr dirty="0" err="1"/>
              <a:t>tahmin</a:t>
            </a:r>
            <a:r>
              <a:rPr dirty="0"/>
              <a:t> </a:t>
            </a:r>
            <a:r>
              <a:rPr dirty="0" err="1"/>
              <a:t>etmek</a:t>
            </a:r>
            <a:r>
              <a:rPr dirty="0"/>
              <a:t> </a:t>
            </a:r>
            <a:r>
              <a:rPr dirty="0" err="1"/>
              <a:t>için</a:t>
            </a:r>
            <a:r>
              <a:rPr dirty="0"/>
              <a:t> </a:t>
            </a:r>
            <a:r>
              <a:rPr dirty="0" err="1"/>
              <a:t>gerçekçi</a:t>
            </a:r>
            <a:r>
              <a:rPr dirty="0"/>
              <a:t> Alman </a:t>
            </a:r>
            <a:r>
              <a:rPr dirty="0" err="1"/>
              <a:t>Kredi</a:t>
            </a:r>
            <a:r>
              <a:rPr dirty="0"/>
              <a:t> Veri Seti </a:t>
            </a:r>
            <a:r>
              <a:rPr dirty="0" err="1"/>
              <a:t>kullanılmıştır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846669"/>
            <a:ext cx="6377940" cy="1293028"/>
          </a:xfrm>
        </p:spPr>
        <p:txBody>
          <a:bodyPr>
            <a:normAutofit fontScale="90000"/>
          </a:bodyPr>
          <a:lstStyle/>
          <a:p>
            <a:r>
              <a:rPr dirty="0" err="1"/>
              <a:t>Kuantum</a:t>
            </a:r>
            <a:r>
              <a:rPr dirty="0"/>
              <a:t> </a:t>
            </a:r>
            <a:r>
              <a:rPr dirty="0" err="1"/>
              <a:t>Genlik</a:t>
            </a:r>
            <a:r>
              <a:rPr dirty="0"/>
              <a:t> </a:t>
            </a:r>
            <a:r>
              <a:rPr dirty="0" err="1"/>
              <a:t>Tahmini</a:t>
            </a:r>
            <a:r>
              <a:rPr dirty="0"/>
              <a:t> (QAE) </a:t>
            </a:r>
            <a:r>
              <a:rPr dirty="0" err="1"/>
              <a:t>Avantajı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2724913"/>
            <a:ext cx="7955280" cy="4069080"/>
          </a:xfrm>
        </p:spPr>
        <p:txBody>
          <a:bodyPr/>
          <a:lstStyle/>
          <a:p>
            <a:r>
              <a:rPr dirty="0" err="1"/>
              <a:t>Neden</a:t>
            </a:r>
            <a:r>
              <a:rPr dirty="0"/>
              <a:t> </a:t>
            </a:r>
            <a:r>
              <a:rPr dirty="0" err="1"/>
              <a:t>Kuantum</a:t>
            </a:r>
            <a:r>
              <a:rPr dirty="0"/>
              <a:t> </a:t>
            </a:r>
            <a:r>
              <a:rPr dirty="0" err="1"/>
              <a:t>Hesaplama</a:t>
            </a:r>
            <a:r>
              <a:rPr dirty="0"/>
              <a:t>?</a:t>
            </a:r>
          </a:p>
          <a:p>
            <a:r>
              <a:rPr dirty="0"/>
              <a:t>• </a:t>
            </a:r>
            <a:r>
              <a:rPr dirty="0" err="1"/>
              <a:t>Kuantum</a:t>
            </a:r>
            <a:r>
              <a:rPr dirty="0"/>
              <a:t> </a:t>
            </a:r>
            <a:r>
              <a:rPr dirty="0" err="1"/>
              <a:t>Genlik</a:t>
            </a:r>
            <a:r>
              <a:rPr dirty="0"/>
              <a:t> </a:t>
            </a:r>
            <a:r>
              <a:rPr dirty="0" err="1"/>
              <a:t>Tahmini</a:t>
            </a:r>
            <a:r>
              <a:rPr dirty="0"/>
              <a:t> (QAE) </a:t>
            </a:r>
            <a:r>
              <a:rPr dirty="0" err="1"/>
              <a:t>algoritması</a:t>
            </a:r>
            <a:r>
              <a:rPr dirty="0"/>
              <a:t> </a:t>
            </a:r>
            <a:r>
              <a:rPr dirty="0" err="1"/>
              <a:t>karesel</a:t>
            </a:r>
            <a:r>
              <a:rPr dirty="0"/>
              <a:t> </a:t>
            </a:r>
            <a:r>
              <a:rPr dirty="0" err="1"/>
              <a:t>hızlanma</a:t>
            </a:r>
            <a:r>
              <a:rPr dirty="0"/>
              <a:t> (quadratic speedup) </a:t>
            </a:r>
            <a:r>
              <a:rPr dirty="0" err="1"/>
              <a:t>sağlar</a:t>
            </a:r>
            <a:r>
              <a:rPr dirty="0"/>
              <a:t>.</a:t>
            </a:r>
          </a:p>
          <a:p>
            <a:r>
              <a:rPr dirty="0"/>
              <a:t>• </a:t>
            </a:r>
            <a:r>
              <a:rPr dirty="0" err="1"/>
              <a:t>Hata</a:t>
            </a:r>
            <a:r>
              <a:rPr dirty="0"/>
              <a:t> </a:t>
            </a:r>
            <a:r>
              <a:rPr dirty="0" err="1"/>
              <a:t>payını</a:t>
            </a:r>
            <a:r>
              <a:rPr dirty="0"/>
              <a:t> ε </a:t>
            </a:r>
            <a:r>
              <a:rPr dirty="0" err="1"/>
              <a:t>seviyesine</a:t>
            </a:r>
            <a:r>
              <a:rPr dirty="0"/>
              <a:t> </a:t>
            </a:r>
            <a:r>
              <a:rPr dirty="0" err="1"/>
              <a:t>düşürmek</a:t>
            </a:r>
            <a:r>
              <a:rPr dirty="0"/>
              <a:t> </a:t>
            </a:r>
            <a:r>
              <a:rPr dirty="0" err="1"/>
              <a:t>için</a:t>
            </a:r>
            <a:r>
              <a:rPr dirty="0"/>
              <a:t> </a:t>
            </a:r>
            <a:r>
              <a:rPr dirty="0" err="1"/>
              <a:t>sadece</a:t>
            </a:r>
            <a:r>
              <a:rPr dirty="0"/>
              <a:t> O(1/ε) </a:t>
            </a:r>
            <a:r>
              <a:rPr dirty="0" err="1"/>
              <a:t>ölçüm</a:t>
            </a:r>
            <a:r>
              <a:rPr dirty="0"/>
              <a:t> </a:t>
            </a:r>
            <a:r>
              <a:rPr dirty="0" err="1"/>
              <a:t>yeterlidir</a:t>
            </a:r>
            <a:r>
              <a:rPr dirty="0"/>
              <a:t>.</a:t>
            </a:r>
          </a:p>
          <a:p>
            <a:r>
              <a:rPr dirty="0"/>
              <a:t>• </a:t>
            </a:r>
            <a:r>
              <a:rPr dirty="0" err="1"/>
              <a:t>Qiskit</a:t>
            </a:r>
            <a:r>
              <a:rPr dirty="0"/>
              <a:t> Finance </a:t>
            </a:r>
            <a:r>
              <a:rPr dirty="0" err="1"/>
              <a:t>kütüphanesindeki</a:t>
            </a:r>
            <a:r>
              <a:rPr dirty="0"/>
              <a:t> Iterative QAE (IQAE) </a:t>
            </a:r>
            <a:r>
              <a:rPr dirty="0" err="1"/>
              <a:t>modülü</a:t>
            </a:r>
            <a:r>
              <a:rPr dirty="0"/>
              <a:t> </a:t>
            </a:r>
            <a:r>
              <a:rPr dirty="0" err="1"/>
              <a:t>ile</a:t>
            </a:r>
            <a:r>
              <a:rPr dirty="0"/>
              <a:t> </a:t>
            </a:r>
            <a:r>
              <a:rPr dirty="0" err="1"/>
              <a:t>olasılıklar</a:t>
            </a:r>
            <a:r>
              <a:rPr dirty="0"/>
              <a:t> </a:t>
            </a:r>
            <a:r>
              <a:rPr dirty="0" err="1"/>
              <a:t>kuantum</a:t>
            </a:r>
            <a:r>
              <a:rPr dirty="0"/>
              <a:t> </a:t>
            </a:r>
            <a:r>
              <a:rPr dirty="0" err="1"/>
              <a:t>kübitlerine</a:t>
            </a:r>
            <a:r>
              <a:rPr dirty="0"/>
              <a:t> </a:t>
            </a:r>
            <a:r>
              <a:rPr dirty="0" err="1"/>
              <a:t>kodlanır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4944" y="1234440"/>
            <a:ext cx="802843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r-TR" sz="2800" dirty="0"/>
              <a:t>MÜŞTERİ TEMERRÜT OLASILIKLARI TAHMİNİ (XGBOOST)</a:t>
            </a:r>
          </a:p>
        </p:txBody>
      </p:sp>
      <p:pic>
        <p:nvPicPr>
          <p:cNvPr id="3" name="Picture 2" descr="xgboost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313432"/>
            <a:ext cx="64008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0349" y="1188720"/>
            <a:ext cx="714330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dirty="0" err="1"/>
              <a:t>Kuantum</a:t>
            </a:r>
            <a:r>
              <a:rPr sz="3200" dirty="0"/>
              <a:t> Risk Analiz </a:t>
            </a:r>
            <a:r>
              <a:rPr sz="3200" dirty="0" err="1"/>
              <a:t>Motoru</a:t>
            </a:r>
            <a:r>
              <a:rPr sz="3200" dirty="0"/>
              <a:t> </a:t>
            </a:r>
            <a:r>
              <a:rPr sz="3200" dirty="0" err="1"/>
              <a:t>Çıktıları</a:t>
            </a:r>
            <a:endParaRPr sz="3200" dirty="0"/>
          </a:p>
        </p:txBody>
      </p:sp>
      <p:pic>
        <p:nvPicPr>
          <p:cNvPr id="3" name="Picture 2" descr="portfolio_los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267712"/>
            <a:ext cx="64008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5256" y="764373"/>
            <a:ext cx="7333488" cy="1293028"/>
          </a:xfrm>
        </p:spPr>
        <p:txBody>
          <a:bodyPr/>
          <a:lstStyle/>
          <a:p>
            <a:r>
              <a:rPr dirty="0" err="1"/>
              <a:t>Sonuç</a:t>
            </a:r>
            <a:r>
              <a:rPr dirty="0"/>
              <a:t>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Değerlendirme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2377440"/>
            <a:ext cx="7955280" cy="4069080"/>
          </a:xfrm>
        </p:spPr>
        <p:txBody>
          <a:bodyPr>
            <a:normAutofit/>
          </a:bodyPr>
          <a:lstStyle/>
          <a:p>
            <a:r>
              <a:rPr dirty="0" err="1"/>
              <a:t>Proje</a:t>
            </a:r>
            <a:r>
              <a:rPr dirty="0"/>
              <a:t> </a:t>
            </a:r>
            <a:r>
              <a:rPr dirty="0" err="1"/>
              <a:t>Çıktıları</a:t>
            </a:r>
            <a:r>
              <a:rPr dirty="0"/>
              <a:t>:</a:t>
            </a:r>
          </a:p>
          <a:p>
            <a:r>
              <a:rPr dirty="0"/>
              <a:t>• </a:t>
            </a:r>
            <a:r>
              <a:rPr dirty="0" err="1"/>
              <a:t>Klasik</a:t>
            </a:r>
            <a:r>
              <a:rPr dirty="0"/>
              <a:t> </a:t>
            </a:r>
            <a:r>
              <a:rPr dirty="0" err="1"/>
              <a:t>makine</a:t>
            </a:r>
            <a:r>
              <a:rPr dirty="0"/>
              <a:t> </a:t>
            </a:r>
            <a:r>
              <a:rPr dirty="0" err="1"/>
              <a:t>öğrenmesi</a:t>
            </a:r>
            <a:r>
              <a:rPr dirty="0"/>
              <a:t>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kuantum</a:t>
            </a:r>
            <a:r>
              <a:rPr dirty="0"/>
              <a:t> </a:t>
            </a:r>
            <a:r>
              <a:rPr dirty="0" err="1"/>
              <a:t>varyasyonel</a:t>
            </a:r>
            <a:r>
              <a:rPr dirty="0"/>
              <a:t> </a:t>
            </a:r>
            <a:r>
              <a:rPr dirty="0" err="1"/>
              <a:t>devreleri</a:t>
            </a:r>
            <a:r>
              <a:rPr dirty="0"/>
              <a:t> </a:t>
            </a:r>
            <a:r>
              <a:rPr dirty="0" err="1"/>
              <a:t>bütünleşik</a:t>
            </a:r>
            <a:r>
              <a:rPr dirty="0"/>
              <a:t> </a:t>
            </a:r>
            <a:r>
              <a:rPr dirty="0" err="1"/>
              <a:t>çalıştırılmıştır</a:t>
            </a:r>
            <a:r>
              <a:rPr dirty="0"/>
              <a:t>.</a:t>
            </a:r>
          </a:p>
          <a:p>
            <a:r>
              <a:rPr dirty="0"/>
              <a:t>• </a:t>
            </a:r>
            <a:r>
              <a:rPr dirty="0" err="1"/>
              <a:t>Kuantum</a:t>
            </a:r>
            <a:r>
              <a:rPr dirty="0"/>
              <a:t> IQAE </a:t>
            </a:r>
            <a:r>
              <a:rPr dirty="0" err="1"/>
              <a:t>motoru</a:t>
            </a:r>
            <a:r>
              <a:rPr dirty="0"/>
              <a:t> </a:t>
            </a:r>
            <a:r>
              <a:rPr dirty="0" err="1"/>
              <a:t>beklenen</a:t>
            </a:r>
            <a:r>
              <a:rPr dirty="0"/>
              <a:t> </a:t>
            </a:r>
            <a:r>
              <a:rPr dirty="0" err="1"/>
              <a:t>kaybı</a:t>
            </a:r>
            <a:r>
              <a:rPr dirty="0"/>
              <a:t> </a:t>
            </a:r>
            <a:r>
              <a:rPr dirty="0" err="1"/>
              <a:t>teorik</a:t>
            </a:r>
            <a:r>
              <a:rPr dirty="0"/>
              <a:t> </a:t>
            </a:r>
            <a:r>
              <a:rPr dirty="0" err="1"/>
              <a:t>hata</a:t>
            </a:r>
            <a:r>
              <a:rPr dirty="0"/>
              <a:t> </a:t>
            </a:r>
            <a:r>
              <a:rPr dirty="0" err="1"/>
              <a:t>payı</a:t>
            </a:r>
            <a:r>
              <a:rPr dirty="0"/>
              <a:t> </a:t>
            </a:r>
            <a:r>
              <a:rPr dirty="0" err="1"/>
              <a:t>sınırları</a:t>
            </a:r>
            <a:r>
              <a:rPr dirty="0"/>
              <a:t> </a:t>
            </a:r>
            <a:r>
              <a:rPr dirty="0" err="1"/>
              <a:t>içinde</a:t>
            </a:r>
            <a:r>
              <a:rPr dirty="0"/>
              <a:t> </a:t>
            </a:r>
            <a:r>
              <a:rPr dirty="0" err="1"/>
              <a:t>başarıyla</a:t>
            </a:r>
            <a:r>
              <a:rPr dirty="0"/>
              <a:t> </a:t>
            </a:r>
            <a:r>
              <a:rPr dirty="0" err="1"/>
              <a:t>hesaplamıştır</a:t>
            </a:r>
            <a:r>
              <a:rPr dirty="0"/>
              <a:t>.</a:t>
            </a:r>
          </a:p>
          <a:p>
            <a:r>
              <a:rPr dirty="0"/>
              <a:t>• </a:t>
            </a:r>
            <a:r>
              <a:rPr dirty="0" err="1"/>
              <a:t>Streamlit</a:t>
            </a:r>
            <a:r>
              <a:rPr dirty="0"/>
              <a:t> </a:t>
            </a:r>
            <a:r>
              <a:rPr dirty="0" err="1"/>
              <a:t>kontrol</a:t>
            </a:r>
            <a:r>
              <a:rPr dirty="0"/>
              <a:t> </a:t>
            </a:r>
            <a:r>
              <a:rPr dirty="0" err="1"/>
              <a:t>paneli</a:t>
            </a:r>
            <a:r>
              <a:rPr dirty="0"/>
              <a:t> </a:t>
            </a:r>
            <a:r>
              <a:rPr dirty="0" err="1"/>
              <a:t>sayesinde</a:t>
            </a:r>
            <a:r>
              <a:rPr dirty="0"/>
              <a:t> </a:t>
            </a:r>
            <a:r>
              <a:rPr dirty="0" err="1"/>
              <a:t>kuantum</a:t>
            </a:r>
            <a:r>
              <a:rPr dirty="0"/>
              <a:t> </a:t>
            </a:r>
            <a:r>
              <a:rPr dirty="0" err="1"/>
              <a:t>sonuçları</a:t>
            </a:r>
            <a:r>
              <a:rPr dirty="0"/>
              <a:t> </a:t>
            </a:r>
            <a:r>
              <a:rPr dirty="0" err="1"/>
              <a:t>görsel</a:t>
            </a:r>
            <a:r>
              <a:rPr dirty="0"/>
              <a:t> </a:t>
            </a:r>
            <a:r>
              <a:rPr dirty="0" err="1"/>
              <a:t>olarak</a:t>
            </a:r>
            <a:r>
              <a:rPr dirty="0"/>
              <a:t> </a:t>
            </a:r>
            <a:r>
              <a:rPr dirty="0" err="1"/>
              <a:t>doğrulanabilir</a:t>
            </a:r>
            <a:r>
              <a:rPr dirty="0"/>
              <a:t> hale </a:t>
            </a:r>
            <a:r>
              <a:rPr dirty="0" err="1"/>
              <a:t>getirilmiştir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çak İzi">
  <a:themeElements>
    <a:clrScheme name="Uçak İzi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Uçak İzi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çak İzi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TM04033937[[fn=Uçak İzi]]</Template>
  <TotalTime>9</TotalTime>
  <Words>193</Words>
  <Application>Microsoft Office PowerPoint</Application>
  <PresentationFormat>Ekran Gösterisi (4:3)</PresentationFormat>
  <Paragraphs>21</Paragraphs>
  <Slides>6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6</vt:i4>
      </vt:variant>
    </vt:vector>
  </HeadingPairs>
  <TitlesOfParts>
    <vt:vector size="9" baseType="lpstr">
      <vt:lpstr>Arial</vt:lpstr>
      <vt:lpstr>Century Gothic</vt:lpstr>
      <vt:lpstr>Uçak İzi</vt:lpstr>
      <vt:lpstr> Kuantum Genlik Tahmini (QAE) ile Kredi Risk Değerlemesi</vt:lpstr>
      <vt:lpstr>Problem Tanımı ve Klasik Sınırlar</vt:lpstr>
      <vt:lpstr>Kuantum Genlik Tahmini (QAE) Avantajı</vt:lpstr>
      <vt:lpstr>PowerPoint Sunusu</vt:lpstr>
      <vt:lpstr>PowerPoint Sunusu</vt:lpstr>
      <vt:lpstr>Sonuç ve Değerlendirme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MEHMET ÇELİK</cp:lastModifiedBy>
  <cp:revision>1</cp:revision>
  <dcterms:created xsi:type="dcterms:W3CDTF">2013-01-27T09:14:16Z</dcterms:created>
  <dcterms:modified xsi:type="dcterms:W3CDTF">2026-07-12T15:02:15Z</dcterms:modified>
  <cp:category/>
</cp:coreProperties>
</file>